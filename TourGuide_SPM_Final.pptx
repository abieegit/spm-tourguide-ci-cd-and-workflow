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TOURGUIDE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 — Lab Journey &amp; Final Evaluation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47168  |  abiezofficial@gmail.com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Zia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54635  |  azia18966@gmail.com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Journey — 12 Labs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Initialization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150876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0" y="15087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Time Planning (Gantt)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50876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0" y="15087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Initiation &amp; Planning Doc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MS Project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27432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MS Planner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74320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Taiga (Scrum/Kanban)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97764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Work Breakdown Structure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23360" y="397764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0" y="397764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Network Diagram &amp; CPM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397764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0" y="397764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GitHub Fundamentals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2120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Cost Estimation (COCOMO)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23360" y="52120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06240" y="52120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GitHub Workflow &amp; Collaboration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5212080"/>
            <a:ext cx="324612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80960" y="521208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Final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TourGuide — Trip Booking Web App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rely on scattered sources for trip research and booking — no unified platform with gallery, booking, and direct contact in one place.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Tourists, Admin, Dev Team, Supervisor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846320" cy="118872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Abdullah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/ Full-Stack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Zia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 /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35204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Improvement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booking, instant confirmation, full admin CRUD control — replacing manual, fragmented processes.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Planning — Gantt Chart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3931920" cy="438912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554480"/>
            <a:ext cx="396607" cy="457200"/>
          </a:xfrm>
          <a:prstGeom prst="roundRect">
            <a:avLst>
              <a:gd name="adj" fmla="val 9222"/>
            </a:avLst>
          </a:prstGeom>
          <a:solidFill>
            <a:srgbClr val="F9A826"/>
          </a:solidFill>
          <a:ln/>
        </p:spPr>
      </p:sp>
      <p:sp>
        <p:nvSpPr>
          <p:cNvPr id="6" name="Text 3"/>
          <p:cNvSpPr/>
          <p:nvPr/>
        </p:nvSpPr>
        <p:spPr>
          <a:xfrm>
            <a:off x="4846320" y="1554480"/>
            <a:ext cx="396607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242927" y="2130552"/>
            <a:ext cx="555250" cy="457200"/>
          </a:xfrm>
          <a:prstGeom prst="roundRect">
            <a:avLst>
              <a:gd name="adj" fmla="val 8000"/>
            </a:avLst>
          </a:prstGeom>
          <a:solidFill>
            <a:srgbClr val="F4B860"/>
          </a:solidFill>
          <a:ln/>
        </p:spPr>
      </p:sp>
      <p:sp>
        <p:nvSpPr>
          <p:cNvPr id="8" name="Text 5"/>
          <p:cNvSpPr/>
          <p:nvPr/>
        </p:nvSpPr>
        <p:spPr>
          <a:xfrm>
            <a:off x="5242927" y="2130552"/>
            <a:ext cx="5552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98177" y="2706624"/>
            <a:ext cx="111050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798177" y="2706624"/>
            <a:ext cx="11105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08678" y="3282696"/>
            <a:ext cx="713893" cy="457200"/>
          </a:xfrm>
          <a:prstGeom prst="roundRect">
            <a:avLst>
              <a:gd name="adj" fmla="val 8000"/>
            </a:avLst>
          </a:prstGeom>
          <a:solidFill>
            <a:srgbClr val="3A4A8C"/>
          </a:solidFill>
          <a:ln/>
        </p:spPr>
      </p:sp>
      <p:sp>
        <p:nvSpPr>
          <p:cNvPr id="12" name="Text 9"/>
          <p:cNvSpPr/>
          <p:nvPr/>
        </p:nvSpPr>
        <p:spPr>
          <a:xfrm>
            <a:off x="6908678" y="3282696"/>
            <a:ext cx="71389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622571" y="3858768"/>
            <a:ext cx="1110500" cy="457200"/>
          </a:xfrm>
          <a:prstGeom prst="roundRect">
            <a:avLst>
              <a:gd name="adj" fmla="val 8000"/>
            </a:avLst>
          </a:prstGeom>
          <a:solidFill>
            <a:srgbClr val="5C6470"/>
          </a:solidFill>
          <a:ln/>
        </p:spPr>
      </p:sp>
      <p:sp>
        <p:nvSpPr>
          <p:cNvPr id="14" name="Text 11"/>
          <p:cNvSpPr/>
          <p:nvPr/>
        </p:nvSpPr>
        <p:spPr>
          <a:xfrm>
            <a:off x="7622571" y="3858768"/>
            <a:ext cx="11105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733071" y="4434840"/>
            <a:ext cx="1269143" cy="457200"/>
          </a:xfrm>
          <a:prstGeom prst="roundRect">
            <a:avLst>
              <a:gd name="adj" fmla="val 8000"/>
            </a:avLst>
          </a:prstGeom>
          <a:solidFill>
            <a:srgbClr val="8A93A8"/>
          </a:solidFill>
          <a:ln/>
        </p:spPr>
      </p:sp>
      <p:sp>
        <p:nvSpPr>
          <p:cNvPr id="16" name="Text 13"/>
          <p:cNvSpPr/>
          <p:nvPr/>
        </p:nvSpPr>
        <p:spPr>
          <a:xfrm>
            <a:off x="8733071" y="4434840"/>
            <a:ext cx="12691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002214" y="5010912"/>
            <a:ext cx="1427786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10002214" y="5010912"/>
            <a:ext cx="142778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5989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 = Start Date + Duration  (live formula, zero hardcoded values)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Initiation &amp; Planning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Economic, Operational — all confirmed viable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2-member team, MERN stack, free-tier hosting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~PKR 8-10K budget; key risks: schedule delays, scope creep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RACI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438912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(PM/Backend), Ahmed Zia (Frontend/Docs)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B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5349240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— backend first, then frontend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Project — Task Scheduling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entered, indented into phases, and linked with Finish-to-Start dependencies. Gantt chart auto-generated in MS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view — task list + Gantt chart (left + right pane)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Planner — Task Boards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TourGuide tasks organized into buckets with assignees, due dates, and progress tracking.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Planner board — buckets and task cards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Taiga — Scrum &amp; Kanban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 board: 2 sprints, 24+ user stories. Taiga Kanban tracking parallel workflow.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 board (sprints/stories)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080760" y="20574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Taiga Kanban board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14630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TourGuide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68780" y="2011680"/>
            <a:ext cx="0" cy="320040"/>
          </a:xfrm>
          <a:prstGeom prst="line">
            <a:avLst/>
          </a:prstGeom>
          <a:noFill/>
          <a:ln w="15240">
            <a:solidFill>
              <a:srgbClr val="5C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3172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Module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68780" y="297180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6324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68780" y="356616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Destinations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18788" y="2011680"/>
            <a:ext cx="0" cy="320040"/>
          </a:xfrm>
          <a:prstGeom prst="line">
            <a:avLst/>
          </a:prstGeom>
          <a:noFill/>
          <a:ln w="15240">
            <a:solidFill>
              <a:srgbClr val="5C64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8648" y="233172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2898648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Module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18788" y="297180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306324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Selection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18788" y="356616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98648" y="365760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18788" y="416052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98648" y="425196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68796" y="2011680"/>
            <a:ext cx="0" cy="320040"/>
          </a:xfrm>
          <a:prstGeom prst="line">
            <a:avLst/>
          </a:prstGeom>
          <a:noFill/>
          <a:ln w="15240">
            <a:solidFill>
              <a:srgbClr val="5C64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8656" y="233172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5248656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Module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68796" y="297180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48656" y="306324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(Admin)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68796" y="356616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48656" y="365760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(Tourist)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18804" y="2011680"/>
            <a:ext cx="0" cy="320040"/>
          </a:xfrm>
          <a:prstGeom prst="line">
            <a:avLst/>
          </a:prstGeom>
          <a:noFill/>
          <a:ln w="15240">
            <a:solidFill>
              <a:srgbClr val="5C64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98664" y="233172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7598664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Module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18804" y="297180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98664" y="306324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718804" y="356616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98664" y="365760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Storage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1068812" y="2011680"/>
            <a:ext cx="0" cy="320040"/>
          </a:xfrm>
          <a:prstGeom prst="line">
            <a:avLst/>
          </a:prstGeom>
          <a:noFill/>
          <a:ln w="15240">
            <a:solidFill>
              <a:srgbClr val="5C64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48672" y="2331720"/>
            <a:ext cx="224028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/>
        </p:spPr>
      </p:sp>
      <p:sp>
        <p:nvSpPr>
          <p:cNvPr id="47" name="Text 45"/>
          <p:cNvSpPr/>
          <p:nvPr/>
        </p:nvSpPr>
        <p:spPr>
          <a:xfrm>
            <a:off x="9948672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1068812" y="297180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48672" y="306324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48672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CRUD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1068812" y="356616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48672" y="365760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48672" y="3657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Mgmt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1068812" y="4160520"/>
            <a:ext cx="0" cy="91440"/>
          </a:xfrm>
          <a:prstGeom prst="line">
            <a:avLst/>
          </a:prstGeom>
          <a:noFill/>
          <a:ln w="12700">
            <a:solidFill>
              <a:srgbClr val="5C64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48672" y="4251960"/>
            <a:ext cx="2240280" cy="4572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0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48672" y="42519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CRUD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Diagram &amp; CPM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65760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Gathering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&amp;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→ E → G → H        </a:t>
            </a:r>
            <a:pPr indent="0" marL="0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repository practice — staging, commits, branching, merging, and commit history.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(git log)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080760" y="2057400"/>
            <a:ext cx="53492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merge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Estimation — COCOMO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91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endParaRPr lang="en-US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2.4 × (KLOC)^1.05 = 2.4 × (8.5)^1.05 ≈ 22.7 Person-Months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5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assumes industrial team scale. Actual TourGuide delivery (per Gantt chart) was ~3 months with a 2-person team — this figure is a theoretical academic benchmark, not literal effort spent.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GitHub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TourGuide repo: branching strategy, issues, pull requests, merge conflict resolution, project board, and v1.0.0 release.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structure (main/dev/feature)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251960" y="2057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list (5 issues)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20574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955280" y="205740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+ review comment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42519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resolution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251960" y="42519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board (Kanban)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8EBF2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955280" y="425196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v1.0.0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 Applied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Gantt, MS Project, MS Planner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Mgmt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3712" y="21488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Taiga (Scrum/Kanban)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0184" y="21488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Diagram, CPM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27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6850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Function Points, COCOMO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3090672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3227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36850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(branching, PRs, releases)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3090672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322783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0184" y="3685032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WBS, RACI, Risk Register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635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TourGuide — from problem statement to deployment-ready release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TourGuide - SPM Lab Journey</dc:title>
  <dc:subject>PptxGenJS Presentation</dc:subject>
  <dc:creator>Abdullah &amp; Ahmed Zia</dc:creator>
  <cp:lastModifiedBy>Abdullah &amp; Ahmed Zia</cp:lastModifiedBy>
  <cp:revision>1</cp:revision>
  <dcterms:created xsi:type="dcterms:W3CDTF">2026-06-21T21:24:45Z</dcterms:created>
  <dcterms:modified xsi:type="dcterms:W3CDTF">2026-06-21T21:24:45Z</dcterms:modified>
</cp:coreProperties>
</file>